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797675" cy="9926625"/>
  <p:embeddedFontLst>
    <p:embeddedFont>
      <p:font typeface="Quattrocento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hBvv01eskBS8gAhYNfsRmQ9Fhw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0F67C30-72BF-4DC9-A7A2-859F96FCC921}">
  <a:tblStyle styleId="{C0F67C30-72BF-4DC9-A7A2-859F96FCC92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065D8FD2-C36A-4D23-8CB6-D5E360A13077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15BF5097-B148-4FE3-A68D-D20E1D54CC41}" styleName="Table_2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QuattrocentoSans-regular.fntdata"/><Relationship Id="rId11" Type="http://schemas.openxmlformats.org/officeDocument/2006/relationships/slide" Target="slides/slide6.xml"/><Relationship Id="rId22" Type="http://schemas.openxmlformats.org/officeDocument/2006/relationships/font" Target="fonts/QuattrocentoSans-italic.fntdata"/><Relationship Id="rId10" Type="http://schemas.openxmlformats.org/officeDocument/2006/relationships/slide" Target="slides/slide5.xml"/><Relationship Id="rId21" Type="http://schemas.openxmlformats.org/officeDocument/2006/relationships/font" Target="fonts/QuattrocentoSans-bold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QuattrocentoSans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49688" y="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2975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fcefe03a9d_0_399:notes"/>
          <p:cNvSpPr txBox="1"/>
          <p:nvPr>
            <p:ph idx="1" type="body"/>
          </p:nvPr>
        </p:nvSpPr>
        <p:spPr>
          <a:xfrm>
            <a:off x="679450" y="4776788"/>
            <a:ext cx="5438700" cy="39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" name="Google Shape;84;g1fcefe03a9d_0_399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033f897899_0_0:notes"/>
          <p:cNvSpPr txBox="1"/>
          <p:nvPr>
            <p:ph idx="1" type="body"/>
          </p:nvPr>
        </p:nvSpPr>
        <p:spPr>
          <a:xfrm>
            <a:off x="679450" y="4776788"/>
            <a:ext cx="5438700" cy="39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g2033f897899_0_0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ecd8ba4fe7_0_0:notes"/>
          <p:cNvSpPr txBox="1"/>
          <p:nvPr>
            <p:ph idx="1" type="body"/>
          </p:nvPr>
        </p:nvSpPr>
        <p:spPr>
          <a:xfrm>
            <a:off x="679450" y="4776788"/>
            <a:ext cx="5438700" cy="39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g1ecd8ba4fe7_0_0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033f897899_0_176:notes"/>
          <p:cNvSpPr txBox="1"/>
          <p:nvPr>
            <p:ph idx="1" type="body"/>
          </p:nvPr>
        </p:nvSpPr>
        <p:spPr>
          <a:xfrm>
            <a:off x="679450" y="4776788"/>
            <a:ext cx="5438700" cy="39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g2033f897899_0_176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8:notes"/>
          <p:cNvSpPr txBox="1"/>
          <p:nvPr>
            <p:ph idx="1" type="body"/>
          </p:nvPr>
        </p:nvSpPr>
        <p:spPr>
          <a:xfrm>
            <a:off x="679450" y="4776788"/>
            <a:ext cx="5438700" cy="39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p18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:notes"/>
          <p:cNvSpPr txBox="1"/>
          <p:nvPr>
            <p:ph idx="1" type="body"/>
          </p:nvPr>
        </p:nvSpPr>
        <p:spPr>
          <a:xfrm>
            <a:off x="679450" y="4776788"/>
            <a:ext cx="5438700" cy="39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19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033f897899_0_181:notes"/>
          <p:cNvSpPr txBox="1"/>
          <p:nvPr>
            <p:ph idx="1" type="body"/>
          </p:nvPr>
        </p:nvSpPr>
        <p:spPr>
          <a:xfrm>
            <a:off x="679450" y="4776788"/>
            <a:ext cx="5438700" cy="39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https://hadoop.apache.org/</a:t>
            </a:r>
            <a:endParaRPr/>
          </a:p>
        </p:txBody>
      </p:sp>
      <p:sp>
        <p:nvSpPr>
          <p:cNvPr id="145" name="Google Shape;145;g2033f897899_0_181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033f897899_0_186:notes"/>
          <p:cNvSpPr txBox="1"/>
          <p:nvPr>
            <p:ph idx="1" type="body"/>
          </p:nvPr>
        </p:nvSpPr>
        <p:spPr>
          <a:xfrm>
            <a:off x="679450" y="4776788"/>
            <a:ext cx="5438700" cy="39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https://hadoop.apache.org/</a:t>
            </a:r>
            <a:endParaRPr/>
          </a:p>
        </p:txBody>
      </p:sp>
      <p:sp>
        <p:nvSpPr>
          <p:cNvPr id="151" name="Google Shape;151;g2033f897899_0_186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033f897899_0_192:notes"/>
          <p:cNvSpPr txBox="1"/>
          <p:nvPr>
            <p:ph idx="1" type="body"/>
          </p:nvPr>
        </p:nvSpPr>
        <p:spPr>
          <a:xfrm>
            <a:off x="679450" y="4776788"/>
            <a:ext cx="5438700" cy="39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https://hadoop.apache.org/</a:t>
            </a:r>
            <a:endParaRPr/>
          </a:p>
        </p:txBody>
      </p:sp>
      <p:sp>
        <p:nvSpPr>
          <p:cNvPr id="158" name="Google Shape;158;g2033f897899_0_192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7"/>
          <p:cNvPicPr preferRelativeResize="0"/>
          <p:nvPr/>
        </p:nvPicPr>
        <p:blipFill rotWithShape="1">
          <a:blip r:embed="rId2">
            <a:alphaModFix/>
          </a:blip>
          <a:srcRect b="0" l="-1" r="49658" t="0"/>
          <a:stretch/>
        </p:blipFill>
        <p:spPr>
          <a:xfrm>
            <a:off x="1" y="1"/>
            <a:ext cx="12191999" cy="13622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" name="Google Shape;18;p7"/>
          <p:cNvCxnSpPr/>
          <p:nvPr/>
        </p:nvCxnSpPr>
        <p:spPr>
          <a:xfrm>
            <a:off x="0" y="1362269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D5A10F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5" name="Google Shape;25;p9"/>
          <p:cNvCxnSpPr/>
          <p:nvPr/>
        </p:nvCxnSpPr>
        <p:spPr>
          <a:xfrm>
            <a:off x="0" y="1250297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D5A10F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26" name="Google Shape;26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4761"/>
            <a:ext cx="121920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4761"/>
            <a:ext cx="121920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0e749e2429_0_181"/>
          <p:cNvSpPr/>
          <p:nvPr/>
        </p:nvSpPr>
        <p:spPr>
          <a:xfrm>
            <a:off x="0" y="6727600"/>
            <a:ext cx="12192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g10e749e2429_0_181"/>
          <p:cNvSpPr txBox="1"/>
          <p:nvPr>
            <p:ph type="title"/>
          </p:nvPr>
        </p:nvSpPr>
        <p:spPr>
          <a:xfrm>
            <a:off x="415600" y="421233"/>
            <a:ext cx="11360700" cy="11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g10e749e2429_0_181"/>
          <p:cNvSpPr txBox="1"/>
          <p:nvPr>
            <p:ph idx="1" type="body"/>
          </p:nvPr>
        </p:nvSpPr>
        <p:spPr>
          <a:xfrm>
            <a:off x="415600" y="1633633"/>
            <a:ext cx="11360700" cy="44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g10e749e2429_0_18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.jpg" id="39" name="Google Shape;39;p8"/>
          <p:cNvPicPr preferRelativeResize="0"/>
          <p:nvPr/>
        </p:nvPicPr>
        <p:blipFill rotWithShape="1">
          <a:blip r:embed="rId2">
            <a:alphaModFix amt="36000"/>
          </a:blip>
          <a:srcRect b="0" l="0" r="0" t="0"/>
          <a:stretch/>
        </p:blipFill>
        <p:spPr>
          <a:xfrm>
            <a:off x="1426724" y="692513"/>
            <a:ext cx="10765276" cy="6165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4761"/>
            <a:ext cx="121920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9" name="Google Shape;49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4761"/>
            <a:ext cx="121920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3" name="Google Shape;53;p1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4" name="Google Shape;5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1" name="Google Shape;6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descr="{&quot;HashCode&quot;:1068245140,&quot;Placement&quot;:&quot;Header&quot;,&quot;Top&quot;:0.0,&quot;Left&quot;:421.1819,&quot;SlideWidth&quot;:960,&quot;SlideHeight&quot;:540}" id="15" name="Google Shape;15;p6"/>
          <p:cNvSpPr txBox="1"/>
          <p:nvPr/>
        </p:nvSpPr>
        <p:spPr>
          <a:xfrm>
            <a:off x="5349010" y="0"/>
            <a:ext cx="1493980" cy="228163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SMU Classification: Restricted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kaggle.com/datasets/ealtman2019/ibm-transactions-for-anti-money-laundering-aml/data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"/>
          <p:cNvSpPr/>
          <p:nvPr/>
        </p:nvSpPr>
        <p:spPr>
          <a:xfrm>
            <a:off x="292700" y="2113725"/>
            <a:ext cx="11594100" cy="4020300"/>
          </a:xfrm>
          <a:prstGeom prst="rect">
            <a:avLst/>
          </a:prstGeom>
          <a:solidFill>
            <a:srgbClr val="548135">
              <a:alpha val="0"/>
            </a:srgbClr>
          </a:solidFill>
          <a:ln>
            <a:noFill/>
          </a:ln>
        </p:spPr>
        <p:txBody>
          <a:bodyPr anchorCtr="0" anchor="t" bIns="41925" lIns="83850" spcFirstLastPara="1" rIns="8385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1175E"/>
                </a:solidFill>
                <a:latin typeface="Arial"/>
                <a:ea typeface="Arial"/>
                <a:cs typeface="Arial"/>
                <a:sym typeface="Arial"/>
              </a:rPr>
              <a:t>IS459 Big Data Architecture</a:t>
            </a:r>
            <a:endParaRPr b="1" i="0" sz="4000" u="none" cap="none" strike="noStrike">
              <a:solidFill>
                <a:srgbClr val="11175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rgbClr val="11175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1175E"/>
                </a:solidFill>
                <a:latin typeface="Arial"/>
                <a:ea typeface="Arial"/>
                <a:cs typeface="Arial"/>
                <a:sym typeface="Arial"/>
              </a:rPr>
              <a:t>PROJECT</a:t>
            </a:r>
            <a:endParaRPr b="1" i="0" sz="4000" u="none" cap="none" strike="noStrike">
              <a:solidFill>
                <a:srgbClr val="11175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98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98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98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98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98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rgbClr val="FF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1" i="1" sz="22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11175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"/>
          <p:cNvSpPr txBox="1"/>
          <p:nvPr/>
        </p:nvSpPr>
        <p:spPr>
          <a:xfrm>
            <a:off x="7402075" y="6453100"/>
            <a:ext cx="460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fcefe03a9d_0_399"/>
          <p:cNvSpPr/>
          <p:nvPr/>
        </p:nvSpPr>
        <p:spPr>
          <a:xfrm>
            <a:off x="96768" y="842959"/>
            <a:ext cx="8805000" cy="265800"/>
          </a:xfrm>
          <a:prstGeom prst="rect">
            <a:avLst/>
          </a:prstGeom>
          <a:solidFill>
            <a:srgbClr val="548135">
              <a:alpha val="0"/>
            </a:srgbClr>
          </a:solidFill>
          <a:ln>
            <a:noFill/>
          </a:ln>
        </p:spPr>
        <p:txBody>
          <a:bodyPr anchorCtr="0" anchor="t" bIns="41925" lIns="83850" spcFirstLastPara="1" rIns="8385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Format </a:t>
            </a:r>
            <a:r>
              <a:rPr b="1" i="0" lang="en-US" sz="2400" u="none" cap="none" strike="noStrike">
                <a:solidFill>
                  <a:srgbClr val="0F2B72"/>
                </a:solidFill>
                <a:latin typeface="Arial"/>
                <a:ea typeface="Arial"/>
                <a:cs typeface="Arial"/>
                <a:sym typeface="Arial"/>
              </a:rPr>
              <a:t>&amp;</a:t>
            </a:r>
            <a:r>
              <a:rPr b="1" i="0" lang="en-US" sz="24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Deliverables</a:t>
            </a:r>
            <a:endParaRPr b="1" i="0" sz="24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1fcefe03a9d_0_399"/>
          <p:cNvSpPr txBox="1"/>
          <p:nvPr/>
        </p:nvSpPr>
        <p:spPr>
          <a:xfrm>
            <a:off x="615158" y="1325985"/>
            <a:ext cx="10155300" cy="49577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0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Graded components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proposal presentation (10 mins) in Week 9 :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Quattrocento Sans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Slides (PDF or PPTX)</a:t>
            </a:r>
            <a:endParaRPr/>
          </a:p>
          <a:p>
            <a:pPr indent="0" lvl="2" marL="1028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Final project :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30%</a:t>
            </a:r>
            <a:endParaRPr/>
          </a:p>
          <a:p>
            <a:pPr indent="0" lvl="1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1. Final project presentation (20 mins) in Week 13: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  <a:endParaRPr/>
          </a:p>
          <a:p>
            <a:pPr indent="0" lvl="1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Final project artefacts: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8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Slides (PDF or PPTX)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6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Video snippets of your project architecture/pipeline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7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Any other items (deployment, GitHub repository, source code etc.)</a:t>
            </a:r>
            <a:endParaRPr/>
          </a:p>
          <a:p>
            <a:pPr indent="0" lvl="2" marL="1028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/>
        </p:nvSpPr>
        <p:spPr>
          <a:xfrm>
            <a:off x="5045725" y="0"/>
            <a:ext cx="166423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Dataset</a:t>
            </a:r>
            <a:endParaRPr/>
          </a:p>
        </p:txBody>
      </p:sp>
      <p:sp>
        <p:nvSpPr>
          <p:cNvPr id="93" name="Google Shape;93;p2"/>
          <p:cNvSpPr txBox="1"/>
          <p:nvPr/>
        </p:nvSpPr>
        <p:spPr>
          <a:xfrm>
            <a:off x="605928" y="1247689"/>
            <a:ext cx="11303306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Use the following dataset for your project implementation.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US" sz="2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IBM Transactions for Anti Money Laundering (AML)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Sign into Kaggle and download the dataset​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​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Inspect the data​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​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/>
        </p:nvSpPr>
        <p:spPr>
          <a:xfrm>
            <a:off x="5045725" y="0"/>
            <a:ext cx="319029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Dictionary</a:t>
            </a:r>
            <a:endParaRPr/>
          </a:p>
        </p:txBody>
      </p:sp>
      <p:sp>
        <p:nvSpPr>
          <p:cNvPr id="99" name="Google Shape;99;p3"/>
          <p:cNvSpPr txBox="1"/>
          <p:nvPr/>
        </p:nvSpPr>
        <p:spPr>
          <a:xfrm>
            <a:off x="605928" y="1247689"/>
            <a:ext cx="1130330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​</a:t>
            </a:r>
            <a:endParaRPr/>
          </a:p>
        </p:txBody>
      </p:sp>
      <p:graphicFrame>
        <p:nvGraphicFramePr>
          <p:cNvPr id="100" name="Google Shape;100;p3"/>
          <p:cNvGraphicFramePr/>
          <p:nvPr/>
        </p:nvGraphicFramePr>
        <p:xfrm>
          <a:off x="756551" y="9729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{C0F67C30-72BF-4DC9-A7A2-859F96FCC921}</a:tableStyleId>
              </a:tblPr>
              <a:tblGrid>
                <a:gridCol w="5257800"/>
                <a:gridCol w="5257800"/>
              </a:tblGrid>
              <a:tr h="326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Attribute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Description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CECE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Timestamp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Date and time when the transaction occurred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From Bank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Identifier of the bank from which the transaction originates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Account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Identifier of the </a:t>
                      </a:r>
                      <a:r>
                        <a:rPr b="1" lang="en-US" sz="1800" u="none" cap="none" strike="noStrike"/>
                        <a:t>sending/originating account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To Bank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Identifier of the bank receiving the transaction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Account.1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Identifier of the </a:t>
                      </a:r>
                      <a:r>
                        <a:rPr b="1" lang="en-US" sz="1800" u="none" cap="none" strike="noStrike"/>
                        <a:t>receiving/destination account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Amount Received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Amount received by the destination account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Receiving Currency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Currency in which the amount is received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Amount Paid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Amount paid by the originating account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Payment Currency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Currency in which the payment is made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Payment Format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Method/format used for the transaction, e.g. Cheque, Credit Card, ACH, Wire, etc.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Is Laundering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Binary label: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1 = laundering transaction;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0 = legitimate transaction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/>
        </p:nvSpPr>
        <p:spPr>
          <a:xfrm>
            <a:off x="4252510" y="0"/>
            <a:ext cx="10167897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Instructions</a:t>
            </a:r>
            <a:endParaRPr b="1" i="1" sz="44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370485" y="982176"/>
            <a:ext cx="11702242" cy="489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Come up with </a:t>
            </a: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business questions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that can be answered by processing and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analyzing this dataset.​ The 2 questions must be </a:t>
            </a:r>
            <a:r>
              <a:rPr b="0" i="1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distinct/unique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(cannot be similar).​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​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For </a:t>
            </a: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business question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identify and document the following:​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What is the business question?​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Who will benefit from answering this business question and why?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your business questions, should you wish to </a:t>
            </a:r>
            <a:r>
              <a:rPr b="0" i="1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augment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the Kaggle dataset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with additional data, you are more than welcome to do so as long as this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addition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supports answering the business questions.​ Please clearly identify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additional data sources by </a:t>
            </a: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citing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them (e.g. provide the URL/link to the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data sources).​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/>
          <p:nvPr/>
        </p:nvSpPr>
        <p:spPr>
          <a:xfrm>
            <a:off x="4252510" y="0"/>
            <a:ext cx="10167897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Instructions</a:t>
            </a:r>
            <a:endParaRPr b="1" i="1" sz="44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5"/>
          <p:cNvSpPr txBox="1"/>
          <p:nvPr/>
        </p:nvSpPr>
        <p:spPr>
          <a:xfrm>
            <a:off x="151103" y="1018822"/>
            <a:ext cx="11889793" cy="501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 construct one or more big data pipeline(s) to answer the 2 business questions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(see previous slide)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.​</a:t>
            </a:r>
            <a:endParaRPr b="0" i="0" sz="2000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​</a:t>
            </a:r>
            <a:endParaRPr b="0" i="0" sz="2000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Use one or more AWS service(s) </a:t>
            </a:r>
            <a:r>
              <a:rPr b="0" i="1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(you may use other services that we did not explore in class)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construct one or more </a:t>
            </a: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end-to-end big data pipeline(s)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.​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Please </a:t>
            </a: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DO NOT purchase anything from AWS Marketplace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.​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​</a:t>
            </a:r>
            <a:endParaRPr b="0" i="0" sz="2000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 startAt="2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each data pipeline, create an architecture diagram.​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 startAt="2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pipeline should start with </a:t>
            </a: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ingestion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and end with </a:t>
            </a: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insight visualization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 startAt="2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You can use the AWS account shared with you for your project implementation.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Budget is 250 USD.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 startAt="2"/>
            </a:pP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 avoid expensive services such as Amazon Redshift, Amazon RDS, and Amazon QuickSight.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Use cost-effective alternatives whenever possible.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033f897899_0_0"/>
          <p:cNvSpPr/>
          <p:nvPr/>
        </p:nvSpPr>
        <p:spPr>
          <a:xfrm>
            <a:off x="96768" y="842959"/>
            <a:ext cx="8805000" cy="265800"/>
          </a:xfrm>
          <a:prstGeom prst="rect">
            <a:avLst/>
          </a:prstGeom>
          <a:solidFill>
            <a:srgbClr val="548135">
              <a:alpha val="0"/>
            </a:srgbClr>
          </a:solidFill>
          <a:ln>
            <a:noFill/>
          </a:ln>
        </p:spPr>
        <p:txBody>
          <a:bodyPr anchorCtr="0" anchor="t" bIns="41925" lIns="83850" spcFirstLastPara="1" rIns="8385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Project Deliverables &amp; Submission</a:t>
            </a:r>
            <a:endParaRPr b="1" i="0" sz="24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2033f897899_0_0"/>
          <p:cNvSpPr txBox="1"/>
          <p:nvPr/>
        </p:nvSpPr>
        <p:spPr>
          <a:xfrm>
            <a:off x="250950" y="1627245"/>
            <a:ext cx="11690100" cy="40959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Graded components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–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proposal presentation (10 mins): 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5%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- Upload to eLearn before your Week 9 lesson time</a:t>
            </a:r>
            <a:endParaRPr b="1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Quattrocento Sans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Slides (PDF or PPTX)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–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Final project presentation (20 mins): 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15%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- Presentation in Week 13</a:t>
            </a:r>
            <a:endParaRPr/>
          </a:p>
          <a:p>
            <a:pPr indent="-3111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Quattrocento Sans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Slides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(PDF or PPTX)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Upload to eLearn before your Week 13 lesson time</a:t>
            </a:r>
            <a:endParaRPr b="1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Quattrocento Sans"/>
              <a:buChar char="–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Final project artefacts: </a:t>
            </a: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15%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- Upload to eLearn &amp; put links/info in Presentation slides </a:t>
            </a:r>
            <a:endParaRPr/>
          </a:p>
          <a:p>
            <a:pPr indent="0" lvl="1" marL="6032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			before your Week 13 lesson time</a:t>
            </a:r>
            <a:endParaRPr/>
          </a:p>
          <a:p>
            <a: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Quattrocento Sans"/>
              <a:buNone/>
            </a:pPr>
            <a:r>
              <a:t/>
            </a:r>
            <a:endParaRPr b="1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Quattrocento Sans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Video snippets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your project architecture and big data pipeline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Quattrocento Sans"/>
              <a:buChar char="–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video must show (with narration or annotations) how to set up the pipeline end-to-end.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Quattrocento Sans"/>
              <a:buChar char="–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video must show (with narration or annotations) how to run the pipeline end-to-end.</a:t>
            </a:r>
            <a:endParaRPr/>
          </a:p>
          <a:p>
            <a:pPr indent="-3111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Quattrocento Sans"/>
              <a:buChar char="–"/>
            </a:pPr>
            <a:r>
              <a:rPr b="0" i="1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Upload to YouTube. Put links to the video(s) in Presentation Slides (appendix)</a:t>
            </a:r>
            <a:endParaRPr b="0" i="1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Quattrocento Sans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Source code files</a:t>
            </a: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(e.g ETL scripts, analysis scripts) &amp;  </a:t>
            </a: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Any other items </a:t>
            </a:r>
            <a:endParaRPr/>
          </a:p>
          <a:p>
            <a:pPr indent="0" lvl="2" marL="1060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</a:t>
            </a:r>
            <a:r>
              <a:rPr b="0" i="1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-    Upload to eLearn or put links/info in Presentation Slides (appendix)</a:t>
            </a:r>
            <a:endParaRPr/>
          </a:p>
          <a:p>
            <a:pPr indent="0" lvl="2" marL="1060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1060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ecd8ba4fe7_0_0"/>
          <p:cNvSpPr/>
          <p:nvPr/>
        </p:nvSpPr>
        <p:spPr>
          <a:xfrm>
            <a:off x="96768" y="842959"/>
            <a:ext cx="8805000" cy="265800"/>
          </a:xfrm>
          <a:prstGeom prst="rect">
            <a:avLst/>
          </a:prstGeom>
          <a:solidFill>
            <a:srgbClr val="548135">
              <a:alpha val="0"/>
            </a:srgbClr>
          </a:solidFill>
          <a:ln>
            <a:noFill/>
          </a:ln>
        </p:spPr>
        <p:txBody>
          <a:bodyPr anchorCtr="0" anchor="t" bIns="41925" lIns="83850" spcFirstLastPara="1" rIns="8385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1175E"/>
                </a:solidFill>
                <a:latin typeface="Arial"/>
                <a:ea typeface="Arial"/>
                <a:cs typeface="Arial"/>
                <a:sym typeface="Arial"/>
              </a:rPr>
              <a:t>Week 9 :: </a:t>
            </a:r>
            <a:r>
              <a:rPr b="1" i="0" lang="en-US" sz="24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Proposal Pitch</a:t>
            </a:r>
            <a:endParaRPr b="1" i="0" sz="24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g1ecd8ba4fe7_0_0"/>
          <p:cNvSpPr txBox="1"/>
          <p:nvPr/>
        </p:nvSpPr>
        <p:spPr>
          <a:xfrm>
            <a:off x="159650" y="1352100"/>
            <a:ext cx="11790300" cy="54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Quattrocento Sans"/>
              <a:buChar char="●"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Duration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 minutes pitch / group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 minutes feedback </a:t>
            </a:r>
            <a:r>
              <a:rPr b="0" i="1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(by the teaching team)</a:t>
            </a:r>
            <a:br>
              <a:rPr b="0" i="1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 (as a group) must present (using slides / drawing if needed):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are the business questions you’ve identified?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Who will </a:t>
            </a: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benefit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from what you’re building?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■"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will the </a:t>
            </a: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intended audience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benefit from your big data pipeline and output?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■"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pain points (if any) will your solution solve for the </a:t>
            </a: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intended audience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Describe the proposed </a:t>
            </a: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end-to-end big data pipeline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■"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Are you using any additional data?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■"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Where do you plan to </a:t>
            </a: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store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(if any) these data?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■"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</a:t>
            </a: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processing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do you plan to do? </a:t>
            </a:r>
            <a:r>
              <a:rPr b="0" i="1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(if any)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Quattrocento Sans"/>
              <a:buChar char="■"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</a:t>
            </a: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analyses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do you plan to do? What is the expected output from the analyses?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■"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you have a </a:t>
            </a:r>
            <a:r>
              <a:rPr b="0" i="1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rough/draft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architecture diagram, please show.</a:t>
            </a:r>
            <a:b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 can select 1-2 people from your group to pitch </a:t>
            </a:r>
            <a:r>
              <a:rPr b="0" i="1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(due to time constraint)</a:t>
            </a:r>
            <a:br>
              <a:rPr b="0" i="1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1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members </a:t>
            </a: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must be present </a:t>
            </a:r>
            <a:r>
              <a:rPr b="1" i="1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(stand in front of the classroom together)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during the in-class/F2F pitch.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Missing members (or late arrivals) will be penalized with ZERO (0) mark for the proposal grade.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members must be ready to answer questions from the teaching team and provide input.</a:t>
            </a:r>
            <a:b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 can adjust and fine-tune your project direction/details later, based on feedback from the teaching team.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033f897899_0_176"/>
          <p:cNvSpPr/>
          <p:nvPr/>
        </p:nvSpPr>
        <p:spPr>
          <a:xfrm>
            <a:off x="96768" y="842959"/>
            <a:ext cx="8805000" cy="265800"/>
          </a:xfrm>
          <a:prstGeom prst="rect">
            <a:avLst/>
          </a:prstGeom>
          <a:solidFill>
            <a:srgbClr val="548135">
              <a:alpha val="0"/>
            </a:srgbClr>
          </a:solidFill>
          <a:ln>
            <a:noFill/>
          </a:ln>
        </p:spPr>
        <p:txBody>
          <a:bodyPr anchorCtr="0" anchor="t" bIns="41925" lIns="83850" spcFirstLastPara="1" rIns="8385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1175E"/>
                </a:solidFill>
                <a:latin typeface="Arial"/>
                <a:ea typeface="Arial"/>
                <a:cs typeface="Arial"/>
                <a:sym typeface="Arial"/>
              </a:rPr>
              <a:t>Week 13 :: </a:t>
            </a:r>
            <a:r>
              <a:rPr b="1" i="0" lang="en-US" sz="2400" u="none" cap="none" strike="noStrike">
                <a:solidFill>
                  <a:srgbClr val="FF00FF"/>
                </a:solidFill>
                <a:latin typeface="Arial"/>
                <a:ea typeface="Arial"/>
                <a:cs typeface="Arial"/>
                <a:sym typeface="Arial"/>
              </a:rPr>
              <a:t>Final Presentation</a:t>
            </a:r>
            <a:endParaRPr b="1" i="0" sz="2400" u="none" cap="none" strike="noStrike">
              <a:solidFill>
                <a:srgbClr val="FF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2033f897899_0_176"/>
          <p:cNvSpPr txBox="1"/>
          <p:nvPr/>
        </p:nvSpPr>
        <p:spPr>
          <a:xfrm>
            <a:off x="159644" y="1428294"/>
            <a:ext cx="11705400" cy="5850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Duration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 minutes presentation</a:t>
            </a:r>
            <a:b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minutes Q&amp;A </a:t>
            </a: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(with the teaching team + audience)</a:t>
            </a:r>
            <a:b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(as a group) must present: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■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Quickly and briefly remind us what are the main business questions, who is the main audience, what is the main objective, big data pipeline architecture and tools/packages/libraries used in your solution development</a:t>
            </a:r>
            <a:endParaRPr/>
          </a:p>
          <a:p>
            <a:pPr indent="-3302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■"/>
            </a:pP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Individual Contributions -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Include a slide clearly stating what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each team member contributed</a:t>
            </a: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to the project (e.g., data ingestion, ETL, Spark processing, analysis, visualization etc.).</a:t>
            </a:r>
            <a:endParaRPr b="1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 Data Pipeline execution demo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■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[Option 1]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can choose to do </a:t>
            </a: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live demo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(You need to plan this carefully - think about the time taken to run the whole flow)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■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[Option 2]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Prepare one or more </a:t>
            </a: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video clips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play them, and </a:t>
            </a: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narrate live</a:t>
            </a:r>
            <a:b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1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members </a:t>
            </a: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must be present </a:t>
            </a:r>
            <a:r>
              <a:rPr b="1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(stand in front of the classroom together)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during the presentation.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Missing members (or late arrivals) will be penalized with ZERO (0) mark for the final project presentation grade.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Every member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must </a:t>
            </a: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present/demo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at least </a:t>
            </a: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component/feature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the big data pipeline.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members must be ready to answer questions from the teaching team and audience.</a:t>
            </a:r>
            <a:endParaRPr/>
          </a:p>
          <a:p>
            <a: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584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AWS Resource Cleanup:</a:t>
            </a: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After your final presentation, you must delete all AWS resources created for the project to prevent further charges.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584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584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/>
          <p:nvPr/>
        </p:nvSpPr>
        <p:spPr>
          <a:xfrm>
            <a:off x="96768" y="842958"/>
            <a:ext cx="10217664" cy="391481"/>
          </a:xfrm>
          <a:prstGeom prst="rect">
            <a:avLst/>
          </a:prstGeom>
          <a:solidFill>
            <a:srgbClr val="548135">
              <a:alpha val="0"/>
            </a:srgbClr>
          </a:solidFill>
          <a:ln>
            <a:noFill/>
          </a:ln>
        </p:spPr>
        <p:txBody>
          <a:bodyPr anchorCtr="0" anchor="t" bIns="41925" lIns="83850" spcFirstLastPara="1" rIns="8385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Project Evaluation - What Are We Looking For?</a:t>
            </a:r>
            <a:endParaRPr b="1" i="0" sz="32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8"/>
          <p:cNvSpPr txBox="1"/>
          <p:nvPr/>
        </p:nvSpPr>
        <p:spPr>
          <a:xfrm>
            <a:off x="159644" y="1428294"/>
            <a:ext cx="11705400" cy="50167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Both Business Value and Technical Solution are important for a strong project.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Business Value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Are the business questions meaningful?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Who benefits from the solution, and how?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 the resulting insights provide useful/actionable value?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Technical Solution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the big data pipeline appropriately designed?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it correctly implemented and working?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Does the pipeline effectively support answering the business questions?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sophisticated pipeline alone does not guarantee a strong project. The solution must also address a meaningful business problem and deliver useful insights.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584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/>
          <p:cNvSpPr/>
          <p:nvPr/>
        </p:nvSpPr>
        <p:spPr>
          <a:xfrm>
            <a:off x="96768" y="842959"/>
            <a:ext cx="8805000" cy="265800"/>
          </a:xfrm>
          <a:prstGeom prst="rect">
            <a:avLst/>
          </a:prstGeom>
          <a:solidFill>
            <a:srgbClr val="548135">
              <a:alpha val="0"/>
            </a:srgbClr>
          </a:solidFill>
          <a:ln>
            <a:noFill/>
          </a:ln>
        </p:spPr>
        <p:txBody>
          <a:bodyPr anchorCtr="0" anchor="t" bIns="41925" lIns="83850" spcFirstLastPara="1" rIns="8385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00FF"/>
                </a:solidFill>
                <a:latin typeface="Arial"/>
                <a:ea typeface="Arial"/>
                <a:cs typeface="Arial"/>
                <a:sym typeface="Arial"/>
              </a:rPr>
              <a:t>X-Factor - Going Beyond the Labs</a:t>
            </a:r>
            <a:endParaRPr b="1" i="0" sz="2800" u="none" cap="none" strike="noStrike">
              <a:solidFill>
                <a:srgbClr val="FF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9"/>
          <p:cNvSpPr txBox="1"/>
          <p:nvPr/>
        </p:nvSpPr>
        <p:spPr>
          <a:xfrm>
            <a:off x="159644" y="1428294"/>
            <a:ext cx="11705400" cy="53244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X-factor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a meaningful enhancement that goes beyond what was directly demonstrated in the course labs.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Examples include: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Pipeline automation or orchestration using tools such as Airflow or AWS Step Functions.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Streaming / near-real-time processing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 or performance optimization with supporting evidence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Meaningful integration of additional data sources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Advanced interactive visualization beyond what was demonstrated in the labs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Simply adding complexity does not constitute an X-factor. The enhancement should have a clear purpose and add value to the solution.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of ML/AI is optional.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If used, it should meaningfully contribute to answering the business questions.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Simply adding an ML/AI component does not automatically make the solution stronger or qualify as an X-factor.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033f897899_0_181"/>
          <p:cNvSpPr/>
          <p:nvPr/>
        </p:nvSpPr>
        <p:spPr>
          <a:xfrm>
            <a:off x="96768" y="842959"/>
            <a:ext cx="8805000" cy="265800"/>
          </a:xfrm>
          <a:prstGeom prst="rect">
            <a:avLst/>
          </a:prstGeom>
          <a:solidFill>
            <a:srgbClr val="548135">
              <a:alpha val="0"/>
            </a:srgbClr>
          </a:solidFill>
          <a:ln>
            <a:noFill/>
          </a:ln>
        </p:spPr>
        <p:txBody>
          <a:bodyPr anchorCtr="0" anchor="t" bIns="41925" lIns="83850" spcFirstLastPara="1" rIns="8385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Grading Rubrics </a:t>
            </a:r>
            <a:r>
              <a:rPr b="1" i="0" lang="en-US" sz="2400" u="none" cap="none" strike="noStrike">
                <a:solidFill>
                  <a:srgbClr val="11175E"/>
                </a:solidFill>
                <a:latin typeface="Arial"/>
                <a:ea typeface="Arial"/>
                <a:cs typeface="Arial"/>
                <a:sym typeface="Arial"/>
              </a:rPr>
              <a:t>:: </a:t>
            </a:r>
            <a:r>
              <a:rPr b="1" i="0" lang="en-US" sz="2400" u="none" cap="none" strike="noStrike">
                <a:solidFill>
                  <a:srgbClr val="FF00DF"/>
                </a:solidFill>
                <a:latin typeface="Arial"/>
                <a:ea typeface="Arial"/>
                <a:cs typeface="Arial"/>
                <a:sym typeface="Arial"/>
              </a:rPr>
              <a:t>Presentation</a:t>
            </a:r>
            <a:endParaRPr b="1" i="0" sz="2400" u="none" cap="none" strike="noStrike">
              <a:solidFill>
                <a:srgbClr val="FF00D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8" name="Google Shape;148;g2033f897899_0_181"/>
          <p:cNvGraphicFramePr/>
          <p:nvPr/>
        </p:nvGraphicFramePr>
        <p:xfrm>
          <a:off x="357550" y="1585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{065D8FD2-C36A-4D23-8CB6-D5E360A13077}</a:tableStyleId>
              </a:tblPr>
              <a:tblGrid>
                <a:gridCol w="1673450"/>
                <a:gridCol w="9747375"/>
              </a:tblGrid>
              <a:tr h="297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Marks </a:t>
                      </a:r>
                      <a:endParaRPr b="1"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Details </a:t>
                      </a:r>
                      <a:endParaRPr b="1"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1190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C+ &amp; below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Presentation with Demo is sloppy.</a:t>
                      </a:r>
                      <a:endParaRPr b="1"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Difficult to understand how the solution works, how it helps solve the business problems (or answer the business questions), or clarity of technologies used.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90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B- to B+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Presentation with Demo is of reasonable standard.</a:t>
                      </a:r>
                      <a:b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Relatively clear presentation &amp; demo that shows how the solution works, </a:t>
                      </a: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how it helps solve the business problems (or answer the business questions), or clarity of technologies used.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Might have some minor non-critical problems here and there.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90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A- to A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Presentation with Demo is good.</a:t>
                      </a:r>
                      <a:endParaRPr b="1"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Clear presentation &amp; demo that is quite seamless. Easy to understand and make sense of what they did and how they did it.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92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A+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Presentation with Demo is exceptional.</a:t>
                      </a:r>
                      <a:endParaRPr b="1"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Crystal clear presentation &amp; demo that is seamless. No clarification questions needed to make sense of what they did. Must also demonstrate at least one meaningful X-factor to qualify for an A+.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033f897899_0_186"/>
          <p:cNvSpPr/>
          <p:nvPr/>
        </p:nvSpPr>
        <p:spPr>
          <a:xfrm>
            <a:off x="96777" y="842950"/>
            <a:ext cx="11420700" cy="265800"/>
          </a:xfrm>
          <a:prstGeom prst="rect">
            <a:avLst/>
          </a:prstGeom>
          <a:solidFill>
            <a:srgbClr val="548135">
              <a:alpha val="0"/>
            </a:srgbClr>
          </a:solidFill>
          <a:ln>
            <a:noFill/>
          </a:ln>
        </p:spPr>
        <p:txBody>
          <a:bodyPr anchorCtr="0" anchor="t" bIns="41925" lIns="83850" spcFirstLastPara="1" rIns="8385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Grading Rubrics </a:t>
            </a:r>
            <a:r>
              <a:rPr b="1" i="0" lang="en-US" sz="2400" u="none" cap="none" strike="noStrike">
                <a:solidFill>
                  <a:srgbClr val="11175E"/>
                </a:solidFill>
                <a:latin typeface="Arial"/>
                <a:ea typeface="Arial"/>
                <a:cs typeface="Arial"/>
                <a:sym typeface="Arial"/>
              </a:rPr>
              <a:t>:: </a:t>
            </a:r>
            <a:r>
              <a:rPr b="1" i="0" lang="en-US" sz="2400" u="none" cap="none" strike="noStrike">
                <a:solidFill>
                  <a:srgbClr val="FF00DF"/>
                </a:solidFill>
                <a:latin typeface="Arial"/>
                <a:ea typeface="Arial"/>
                <a:cs typeface="Arial"/>
                <a:sym typeface="Arial"/>
              </a:rPr>
              <a:t>Solution Itself </a:t>
            </a:r>
            <a:r>
              <a:rPr b="1" i="1" lang="en-US" sz="2400" u="none" cap="none" strike="noStrike">
                <a:solidFill>
                  <a:srgbClr val="FF00DF"/>
                </a:solidFill>
                <a:latin typeface="Arial"/>
                <a:ea typeface="Arial"/>
                <a:cs typeface="Arial"/>
                <a:sym typeface="Arial"/>
              </a:rPr>
              <a:t>(Big Data Pipeline)</a:t>
            </a:r>
            <a:endParaRPr b="1" i="0" sz="2400" u="none" cap="none" strike="noStrike">
              <a:solidFill>
                <a:srgbClr val="FF00D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4" name="Google Shape;154;g2033f897899_0_186"/>
          <p:cNvGraphicFramePr/>
          <p:nvPr/>
        </p:nvGraphicFramePr>
        <p:xfrm>
          <a:off x="436952" y="2118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{065D8FD2-C36A-4D23-8CB6-D5E360A13077}</a:tableStyleId>
              </a:tblPr>
              <a:tblGrid>
                <a:gridCol w="1942650"/>
                <a:gridCol w="9175600"/>
              </a:tblGrid>
              <a:tr h="375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Marks </a:t>
                      </a:r>
                      <a:endParaRPr b="1"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Details </a:t>
                      </a:r>
                      <a:endParaRPr b="1"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75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C+ &amp; below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Problem is not solved and/or not a useful solution.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25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B- to B+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Problem is somewhat solved and is relatively useful.</a:t>
                      </a:r>
                      <a:b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Might not be completely solved but mostly there.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25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A- to A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Problem solved is very useful.</a:t>
                      </a:r>
                      <a:endParaRPr b="1"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clear problem that is solved with a decent solution.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A+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Challenging problem is solved and very useful.</a:t>
                      </a:r>
                      <a:endParaRPr b="1"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 is a challenging problem to begin with and the solution is very appropriate.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5" name="Google Shape;155;g2033f897899_0_186"/>
          <p:cNvSpPr txBox="1"/>
          <p:nvPr/>
        </p:nvSpPr>
        <p:spPr>
          <a:xfrm>
            <a:off x="341550" y="1507700"/>
            <a:ext cx="6105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9900FF"/>
                </a:solidFill>
                <a:latin typeface="Calibri"/>
                <a:ea typeface="Calibri"/>
                <a:cs typeface="Calibri"/>
                <a:sym typeface="Calibri"/>
              </a:rPr>
              <a:t>Problem(s) solving and solution appropriateness</a:t>
            </a:r>
            <a:endParaRPr b="0" i="0" sz="14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033f897899_0_192"/>
          <p:cNvSpPr/>
          <p:nvPr/>
        </p:nvSpPr>
        <p:spPr>
          <a:xfrm>
            <a:off x="96777" y="842950"/>
            <a:ext cx="11420700" cy="265800"/>
          </a:xfrm>
          <a:prstGeom prst="rect">
            <a:avLst/>
          </a:prstGeom>
          <a:solidFill>
            <a:srgbClr val="548135">
              <a:alpha val="0"/>
            </a:srgbClr>
          </a:solidFill>
          <a:ln>
            <a:noFill/>
          </a:ln>
        </p:spPr>
        <p:txBody>
          <a:bodyPr anchorCtr="0" anchor="t" bIns="41925" lIns="83850" spcFirstLastPara="1" rIns="8385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Grading Rubrics </a:t>
            </a:r>
            <a:r>
              <a:rPr b="1" i="0" lang="en-US" sz="2400" u="none" cap="none" strike="noStrike">
                <a:solidFill>
                  <a:srgbClr val="11175E"/>
                </a:solidFill>
                <a:latin typeface="Arial"/>
                <a:ea typeface="Arial"/>
                <a:cs typeface="Arial"/>
                <a:sym typeface="Arial"/>
              </a:rPr>
              <a:t>:: </a:t>
            </a:r>
            <a:r>
              <a:rPr b="1" i="0" lang="en-US" sz="2400" u="none" cap="none" strike="noStrike">
                <a:solidFill>
                  <a:srgbClr val="FF00DF"/>
                </a:solidFill>
                <a:latin typeface="Arial"/>
                <a:ea typeface="Arial"/>
                <a:cs typeface="Arial"/>
                <a:sym typeface="Arial"/>
              </a:rPr>
              <a:t>Solution Itself </a:t>
            </a:r>
            <a:r>
              <a:rPr b="1" i="1" lang="en-US" sz="2400" u="none" cap="none" strike="noStrike">
                <a:solidFill>
                  <a:srgbClr val="FF00DF"/>
                </a:solidFill>
                <a:latin typeface="Arial"/>
                <a:ea typeface="Arial"/>
                <a:cs typeface="Arial"/>
                <a:sym typeface="Arial"/>
              </a:rPr>
              <a:t>(Big Data Pipeline)</a:t>
            </a:r>
            <a:endParaRPr b="1" i="0" sz="2400" u="none" cap="none" strike="noStrike">
              <a:solidFill>
                <a:srgbClr val="FF00D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2033f897899_0_192"/>
          <p:cNvSpPr txBox="1"/>
          <p:nvPr/>
        </p:nvSpPr>
        <p:spPr>
          <a:xfrm>
            <a:off x="341550" y="1507700"/>
            <a:ext cx="11326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B45F06"/>
                </a:solidFill>
                <a:latin typeface="Calibri"/>
                <a:ea typeface="Calibri"/>
                <a:cs typeface="Calibri"/>
                <a:sym typeface="Calibri"/>
              </a:rPr>
              <a:t>Working big data pipeline and its components/parts, correctly implemented, usable solution</a:t>
            </a:r>
            <a:endParaRPr b="0" i="0" sz="1400" u="none" cap="none" strike="noStrike">
              <a:solidFill>
                <a:srgbClr val="B45F0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2" name="Google Shape;162;g2033f897899_0_192"/>
          <p:cNvGraphicFramePr/>
          <p:nvPr/>
        </p:nvGraphicFramePr>
        <p:xfrm>
          <a:off x="457200" y="215851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{15BF5097-B148-4FE3-A68D-D20E1D54CC41}</a:tableStyleId>
              </a:tblPr>
              <a:tblGrid>
                <a:gridCol w="1519250"/>
                <a:gridCol w="9691825"/>
              </a:tblGrid>
              <a:tr h="304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Marks </a:t>
                      </a:r>
                      <a:endParaRPr b="1"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Details </a:t>
                      </a:r>
                      <a:endParaRPr b="1"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91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C+ &amp; below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Pipeline is somewhat working to not working. 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Intermittently working, some parts working, or completely not working.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6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B- to B+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Pipeline is </a:t>
                      </a:r>
                      <a:r>
                        <a:rPr b="1"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buggy with some working parts.</a:t>
                      </a:r>
                      <a:b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With bugs but nothing critical or show stopping. Pipeline is roughly usable without having to figure out how to use it too much.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1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A- to A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Pipeline is working well, and usability is good.</a:t>
                      </a:r>
                      <a:endParaRPr b="1"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Some minor bugs and with the pipeline relatively intuitive to use.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1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A+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Pipeline is working perfectly with great usability.</a:t>
                      </a:r>
                      <a:endParaRPr b="1"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bugs at all and completely efficient and intuitive to use with no need to figure out how to do anything.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2018-11-21T01:52:47Z</dcterms:created>
  <dc:creator>Elvin NG Pei Xiong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0x0101000C6AD1B51FFACD45B62528B91A79C429</vt:lpwstr>
  </property>
  <property fmtid="{D5CDD505-2E9C-101B-9397-08002B2CF9AE}" pid="3" name="MediaServiceImageTags">
    <vt:lpwstr/>
  </property>
  <property fmtid="{D5CDD505-2E9C-101B-9397-08002B2CF9AE}" pid="4" name="MSIP_Label_6951d41b-6b8e-4636-984f-012bff14ba18_Enabled">
    <vt:lpwstr>true</vt:lpwstr>
  </property>
  <property fmtid="{D5CDD505-2E9C-101B-9397-08002B2CF9AE}" pid="5" name="MSIP_Label_6951d41b-6b8e-4636-984f-012bff14ba18_SetDate">
    <vt:lpwstr>2024-01-24T02:45:55Z</vt:lpwstr>
  </property>
  <property fmtid="{D5CDD505-2E9C-101B-9397-08002B2CF9AE}" pid="6" name="MSIP_Label_6951d41b-6b8e-4636-984f-012bff14ba18_Method">
    <vt:lpwstr>Standard</vt:lpwstr>
  </property>
  <property fmtid="{D5CDD505-2E9C-101B-9397-08002B2CF9AE}" pid="7" name="MSIP_Label_6951d41b-6b8e-4636-984f-012bff14ba18_Name">
    <vt:lpwstr>6951d41b-6b8e-4636-984f-012bff14ba18</vt:lpwstr>
  </property>
  <property fmtid="{D5CDD505-2E9C-101B-9397-08002B2CF9AE}" pid="8" name="MSIP_Label_6951d41b-6b8e-4636-984f-012bff14ba18_SiteId">
    <vt:lpwstr>c98a79ca-5a9a-4791-a243-f06afd67464d</vt:lpwstr>
  </property>
  <property fmtid="{D5CDD505-2E9C-101B-9397-08002B2CF9AE}" pid="9" name="MSIP_Label_6951d41b-6b8e-4636-984f-012bff14ba18_ActionId">
    <vt:lpwstr>83f58e89-66ad-410b-b5f4-51a937cfc0a5</vt:lpwstr>
  </property>
  <property fmtid="{D5CDD505-2E9C-101B-9397-08002B2CF9AE}" pid="10" name="MSIP_Label_6951d41b-6b8e-4636-984f-012bff14ba18_ContentBits">
    <vt:lpwstr>1</vt:lpwstr>
  </property>
</Properties>
</file>